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  <p:sldMasterId id="2147483680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</p:sldIdLst>
  <p:sldSz cx="9144000" cy="5143500" type="screen16x9"/>
  <p:notesSz cx="6858000" cy="9144000"/>
  <p:embeddedFontLst>
    <p:embeddedFont>
      <p:font typeface="Franklin Gothic Medium" panose="020B0603020102020204" pitchFamily="34" charset="0"/>
      <p:regular r:id="rId15"/>
      <p:italic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DBD00E-98E3-46D0-BB89-17ACA517A3E4}" v="82" dt="2026-07-13T20:27:46.8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 autoAdjust="0"/>
    <p:restoredTop sz="76271" autoAdjust="0"/>
  </p:normalViewPr>
  <p:slideViewPr>
    <p:cSldViewPr snapToGrid="0">
      <p:cViewPr>
        <p:scale>
          <a:sx n="100" d="100"/>
          <a:sy n="100" d="100"/>
        </p:scale>
        <p:origin x="120" y="-19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19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4.fntdata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3.fntdata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3109ef6db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f3109ef6db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3109ef6db_0_2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5" name="Google Shape;155;g3f3109ef6db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3109ef6db_0_2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f3109ef6db_0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3109ef6db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g3f3109ef6db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3109ef6db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3" name="Google Shape;173;g3f3109ef6db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3109ef6db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9" name="Google Shape;179;g3f3109ef6db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3109ef6db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5" name="Google Shape;185;g3f3109ef6db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3109ef6db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1" name="Google Shape;191;g3f3109ef6db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14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200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">
  <p:cSld name="Titlepag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3"/>
          </p:nvPr>
        </p:nvSpPr>
        <p:spPr>
          <a:xfrm>
            <a:off x="305991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5" name="Google Shape;55;p13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">
  <p:cSld name="Titlepag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body" idx="3"/>
          </p:nvPr>
        </p:nvSpPr>
        <p:spPr>
          <a:xfrm>
            <a:off x="305991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6" name="Google Shape;66;p15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slide black">
  <p:cSld name="Chapter slide blac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white">
  <p:cSld name="Only Title white">
    <p:bg>
      <p:bgPr>
        <a:solidFill>
          <a:schemeClr val="l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" name="Google Shape;72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black">
  <p:cSld name="Only Title black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slide white">
  <p:cSld name="Chapterslide white">
    <p:bg>
      <p:bgPr>
        <a:solidFill>
          <a:schemeClr val="l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ith graphic">
  <p:cSld name="Titlepage with graphic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0"/>
          <p:cNvSpPr txBox="1">
            <a:spLocks noGrp="1"/>
          </p:cNvSpPr>
          <p:nvPr>
            <p:ph type="body" idx="3"/>
          </p:nvPr>
        </p:nvSpPr>
        <p:spPr>
          <a:xfrm>
            <a:off x="305993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86" name="Google Shape;86;p20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0"/>
          <p:cNvSpPr>
            <a:spLocks noGrp="1"/>
          </p:cNvSpPr>
          <p:nvPr>
            <p:ph type="pic" idx="4"/>
          </p:nvPr>
        </p:nvSpPr>
        <p:spPr>
          <a:xfrm>
            <a:off x="4842273" y="0"/>
            <a:ext cx="43017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hite">
  <p:cSld name="Titlepage white"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>
            <a:spLocks noGrp="1"/>
          </p:cNvSpPr>
          <p:nvPr>
            <p:ph type="title"/>
          </p:nvPr>
        </p:nvSpPr>
        <p:spPr>
          <a:xfrm>
            <a:off x="306016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1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1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3"/>
          </p:nvPr>
        </p:nvSpPr>
        <p:spPr>
          <a:xfrm>
            <a:off x="306017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93" name="Google Shape;93;p21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with details">
  <p:cSld name="Thank you with details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305992" y="2181038"/>
            <a:ext cx="426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body" idx="1"/>
          </p:nvPr>
        </p:nvSpPr>
        <p:spPr>
          <a:xfrm>
            <a:off x="305991" y="2874340"/>
            <a:ext cx="426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7" name="Google Shape;97;p22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.">
  <p:cSld name="Thank you.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>
            <a:spLocks noGrp="1"/>
          </p:cNvSpPr>
          <p:nvPr>
            <p:ph type="title"/>
          </p:nvPr>
        </p:nvSpPr>
        <p:spPr>
          <a:xfrm>
            <a:off x="305991" y="2735036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00" name="Google Shape;10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23657" y="1825961"/>
            <a:ext cx="696687" cy="741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black">
  <p:cSld name="Only Title black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25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slide black">
  <p:cSld name="Chapter slide black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6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slide white">
  <p:cSld name="Chapterslide white"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>
            <a:spLocks noGrp="1"/>
          </p:cNvSpPr>
          <p:nvPr>
            <p:ph type="title"/>
          </p:nvPr>
        </p:nvSpPr>
        <p:spPr>
          <a:xfrm>
            <a:off x="305991" y="2294751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white">
  <p:cSld name="Only Title white"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8" name="Google Shape;11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">
  <p:cSld name="Titlepag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9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29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29"/>
          <p:cNvSpPr txBox="1">
            <a:spLocks noGrp="1"/>
          </p:cNvSpPr>
          <p:nvPr>
            <p:ph type="body" idx="3"/>
          </p:nvPr>
        </p:nvSpPr>
        <p:spPr>
          <a:xfrm>
            <a:off x="305991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5" name="Google Shape;125;p29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hite">
  <p:cSld name="Titlepage white">
    <p:bg>
      <p:bgPr>
        <a:solidFill>
          <a:schemeClr val="lt1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>
            <a:spLocks noGrp="1"/>
          </p:cNvSpPr>
          <p:nvPr>
            <p:ph type="title"/>
          </p:nvPr>
        </p:nvSpPr>
        <p:spPr>
          <a:xfrm>
            <a:off x="306016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30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66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30"/>
          <p:cNvSpPr txBox="1">
            <a:spLocks noGrp="1"/>
          </p:cNvSpPr>
          <p:nvPr>
            <p:ph type="body" idx="3"/>
          </p:nvPr>
        </p:nvSpPr>
        <p:spPr>
          <a:xfrm>
            <a:off x="306017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1" name="Google Shape;131;p30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page with graphic">
  <p:cSld name="Titlepage with graphic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>
            <a:spLocks noGrp="1"/>
          </p:cNvSpPr>
          <p:nvPr>
            <p:ph type="title"/>
          </p:nvPr>
        </p:nvSpPr>
        <p:spPr>
          <a:xfrm>
            <a:off x="305992" y="1767943"/>
            <a:ext cx="4266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3000" b="1" i="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1"/>
          <p:cNvSpPr txBox="1">
            <a:spLocks noGrp="1"/>
          </p:cNvSpPr>
          <p:nvPr>
            <p:ph type="body" idx="1"/>
          </p:nvPr>
        </p:nvSpPr>
        <p:spPr>
          <a:xfrm>
            <a:off x="305992" y="4013900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31"/>
          <p:cNvSpPr txBox="1">
            <a:spLocks noGrp="1"/>
          </p:cNvSpPr>
          <p:nvPr>
            <p:ph type="body" idx="2"/>
          </p:nvPr>
        </p:nvSpPr>
        <p:spPr>
          <a:xfrm>
            <a:off x="305992" y="4252091"/>
            <a:ext cx="4271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31"/>
          <p:cNvSpPr txBox="1">
            <a:spLocks noGrp="1"/>
          </p:cNvSpPr>
          <p:nvPr>
            <p:ph type="body" idx="3"/>
          </p:nvPr>
        </p:nvSpPr>
        <p:spPr>
          <a:xfrm>
            <a:off x="305993" y="2808542"/>
            <a:ext cx="4266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7" name="Google Shape;137;p31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1"/>
          <p:cNvSpPr>
            <a:spLocks noGrp="1"/>
          </p:cNvSpPr>
          <p:nvPr>
            <p:ph type="pic" idx="4"/>
          </p:nvPr>
        </p:nvSpPr>
        <p:spPr>
          <a:xfrm>
            <a:off x="4842273" y="0"/>
            <a:ext cx="43017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26B43"/>
          </p15:clr>
        </p15:guide>
        <p15:guide id="2" pos="3050">
          <p15:clr>
            <a:srgbClr val="F26B43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 with details">
  <p:cSld name="Thank you with details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2"/>
          <p:cNvSpPr txBox="1">
            <a:spLocks noGrp="1"/>
          </p:cNvSpPr>
          <p:nvPr>
            <p:ph type="title"/>
          </p:nvPr>
        </p:nvSpPr>
        <p:spPr>
          <a:xfrm>
            <a:off x="305992" y="2181038"/>
            <a:ext cx="426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2"/>
          <p:cNvSpPr txBox="1">
            <a:spLocks noGrp="1"/>
          </p:cNvSpPr>
          <p:nvPr>
            <p:ph type="body" idx="1"/>
          </p:nvPr>
        </p:nvSpPr>
        <p:spPr>
          <a:xfrm>
            <a:off x="305991" y="2874340"/>
            <a:ext cx="426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2" name="Google Shape;142;p32" descr="Ein Bild, das Zeichnung enthält.&#10;&#10;Automatisch generierte Beschreibu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5992" y="276677"/>
            <a:ext cx="1382315" cy="580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.">
  <p:cSld name="Thank you.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>
            <a:spLocks noGrp="1"/>
          </p:cNvSpPr>
          <p:nvPr>
            <p:ph type="title"/>
          </p:nvPr>
        </p:nvSpPr>
        <p:spPr>
          <a:xfrm>
            <a:off x="305991" y="2735036"/>
            <a:ext cx="8532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5" name="Google Shape;14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23657" y="1825961"/>
            <a:ext cx="696687" cy="7417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26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305991" y="1059656"/>
            <a:ext cx="8532000" cy="3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3">
          <p15:clr>
            <a:srgbClr val="F26B43"/>
          </p15:clr>
        </p15:guide>
        <p15:guide id="2" pos="5567">
          <p15:clr>
            <a:srgbClr val="F26B43"/>
          </p15:clr>
        </p15:guide>
        <p15:guide id="3" orient="horz" pos="174">
          <p15:clr>
            <a:srgbClr val="F26B43"/>
          </p15:clr>
        </p15:guide>
        <p15:guide id="4" orient="horz" pos="3066">
          <p15:clr>
            <a:srgbClr val="F26B43"/>
          </p15:clr>
        </p15:guide>
        <p15:guide id="5" orient="horz" pos="2930">
          <p15:clr>
            <a:srgbClr val="F26B43"/>
          </p15:clr>
        </p15:guide>
        <p15:guide id="6" orient="horz" pos="540">
          <p15:clr>
            <a:srgbClr val="F26B43"/>
          </p15:clr>
        </p15:guide>
        <p15:guide id="7" orient="horz" pos="66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4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428312" y="265252"/>
            <a:ext cx="420413" cy="4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4"/>
          <p:cNvSpPr txBox="1">
            <a:spLocks noGrp="1"/>
          </p:cNvSpPr>
          <p:nvPr>
            <p:ph type="title"/>
          </p:nvPr>
        </p:nvSpPr>
        <p:spPr>
          <a:xfrm>
            <a:off x="305991" y="2777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24"/>
          <p:cNvSpPr txBox="1">
            <a:spLocks noGrp="1"/>
          </p:cNvSpPr>
          <p:nvPr>
            <p:ph type="body" idx="1"/>
          </p:nvPr>
        </p:nvSpPr>
        <p:spPr>
          <a:xfrm>
            <a:off x="305991" y="1059656"/>
            <a:ext cx="8532000" cy="3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24"/>
          <p:cNvSpPr txBox="1">
            <a:spLocks noGrp="1"/>
          </p:cNvSpPr>
          <p:nvPr>
            <p:ph type="sldNum" idx="12"/>
          </p:nvPr>
        </p:nvSpPr>
        <p:spPr>
          <a:xfrm>
            <a:off x="6780610" y="4870571"/>
            <a:ext cx="20574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93">
          <p15:clr>
            <a:srgbClr val="F26B43"/>
          </p15:clr>
        </p15:guide>
        <p15:guide id="2" pos="5567">
          <p15:clr>
            <a:srgbClr val="F26B43"/>
          </p15:clr>
        </p15:guide>
        <p15:guide id="3" orient="horz" pos="174">
          <p15:clr>
            <a:srgbClr val="F26B43"/>
          </p15:clr>
        </p15:guide>
        <p15:guide id="4" orient="horz" pos="3066">
          <p15:clr>
            <a:srgbClr val="F26B43"/>
          </p15:clr>
        </p15:guide>
        <p15:guide id="5" orient="horz" pos="2930">
          <p15:clr>
            <a:srgbClr val="F26B43"/>
          </p15:clr>
        </p15:guide>
        <p15:guide id="6" orient="horz" pos="540">
          <p15:clr>
            <a:srgbClr val="F26B43"/>
          </p15:clr>
        </p15:guide>
        <p15:guide id="7" orient="horz" pos="6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4"/>
          <p:cNvSpPr txBox="1">
            <a:spLocks noGrp="1"/>
          </p:cNvSpPr>
          <p:nvPr>
            <p:ph type="title"/>
          </p:nvPr>
        </p:nvSpPr>
        <p:spPr>
          <a:xfrm>
            <a:off x="1086786" y="1080147"/>
            <a:ext cx="638581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lvl="0"/>
            <a:r>
              <a:rPr lang="en-US" sz="3200" dirty="0"/>
              <a:t>Decarbonizing Business Travel</a:t>
            </a:r>
            <a:endParaRPr sz="3200" b="0" dirty="0"/>
          </a:p>
        </p:txBody>
      </p:sp>
      <p:sp>
        <p:nvSpPr>
          <p:cNvPr id="151" name="Google Shape;151;p34"/>
          <p:cNvSpPr txBox="1">
            <a:spLocks noGrp="1"/>
          </p:cNvSpPr>
          <p:nvPr>
            <p:ph type="body" idx="1"/>
          </p:nvPr>
        </p:nvSpPr>
        <p:spPr>
          <a:xfrm>
            <a:off x="395941" y="2881641"/>
            <a:ext cx="42660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/>
            <a:r>
              <a:rPr lang="en-US" dirty="0"/>
              <a:t>Summer Analytics 2026 Capstone</a:t>
            </a:r>
          </a:p>
          <a:p>
            <a:pPr marL="0" lvl="0" indent="0"/>
            <a:endParaRPr lang="en-US" dirty="0"/>
          </a:p>
          <a:p>
            <a:pPr marL="0" lvl="0" indent="0"/>
            <a:endParaRPr lang="en-US" dirty="0"/>
          </a:p>
          <a:p>
            <a:pPr marL="0" lvl="0" indent="0"/>
            <a:endParaRPr lang="en-US" dirty="0"/>
          </a:p>
          <a:p>
            <a:pPr marL="0" lvl="0" indent="0"/>
            <a:r>
              <a:rPr lang="en-US" dirty="0"/>
              <a:t>Name: Ekta Yadav</a:t>
            </a:r>
          </a:p>
          <a:p>
            <a:pPr marL="0" lvl="0" indent="0"/>
            <a:r>
              <a:rPr lang="en-US" dirty="0"/>
              <a:t>Institute: IIT Guwahati</a:t>
            </a:r>
          </a:p>
          <a:p>
            <a:pPr marL="0" lvl="0" indent="0"/>
            <a:r>
              <a:rPr lang="en-US" dirty="0"/>
              <a:t>Branch: Chemical Engineering</a:t>
            </a:r>
          </a:p>
          <a:p>
            <a:pPr marL="0" lvl="0" indent="0"/>
            <a:r>
              <a:rPr lang="en-US" dirty="0"/>
              <a:t>Email: ektayadav1618@gmail.com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dirty="0"/>
          </a:p>
        </p:txBody>
      </p:sp>
      <p:sp>
        <p:nvSpPr>
          <p:cNvPr id="152" name="Google Shape;152;p34"/>
          <p:cNvSpPr txBox="1">
            <a:spLocks noGrp="1"/>
          </p:cNvSpPr>
          <p:nvPr>
            <p:ph type="body" idx="3"/>
          </p:nvPr>
        </p:nvSpPr>
        <p:spPr>
          <a:xfrm>
            <a:off x="171078" y="1753491"/>
            <a:ext cx="709165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/>
            <a:r>
              <a:rPr lang="en-US" sz="2000" dirty="0"/>
              <a:t>A Process Intelligence &amp; Predictive AI Approach</a:t>
            </a:r>
          </a:p>
          <a:p>
            <a:pPr marL="0" lvl="0" indent="0"/>
            <a:r>
              <a:rPr lang="en-US" dirty="0">
                <a:latin typeface="Franklin Gothic Medium" panose="020B0603020102020204" pitchFamily="34" charset="0"/>
              </a:rPr>
              <a:t>From Carbon Visibility To Intelligent Travel Decisions</a:t>
            </a:r>
            <a:endParaRPr dirty="0">
              <a:latin typeface="Franklin Gothic Medium" panose="020B0603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5"/>
          <p:cNvSpPr txBox="1">
            <a:spLocks noGrp="1"/>
          </p:cNvSpPr>
          <p:nvPr>
            <p:ph type="title"/>
          </p:nvPr>
        </p:nvSpPr>
        <p:spPr>
          <a:xfrm>
            <a:off x="220808" y="75626"/>
            <a:ext cx="85206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" sz="1600" b="1" dirty="0"/>
              <a:t>Executive Summar</a:t>
            </a:r>
            <a:r>
              <a:rPr lang="en" sz="2000" b="1" dirty="0"/>
              <a:t>y</a:t>
            </a:r>
            <a:r>
              <a:rPr lang="en-US" sz="2000" dirty="0"/>
              <a:t> </a:t>
            </a:r>
            <a:r>
              <a:rPr lang="en-US" sz="1600" b="1" dirty="0"/>
              <a:t>– Results at a Glance</a:t>
            </a:r>
            <a:endParaRPr sz="1600" b="1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B50808D-A30F-A147-7983-3624D1C6B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677746"/>
            <a:ext cx="3999900" cy="1769992"/>
          </a:xfrm>
        </p:spPr>
        <p:txBody>
          <a:bodyPr>
            <a:normAutofit/>
          </a:bodyPr>
          <a:lstStyle/>
          <a:p>
            <a:r>
              <a:rPr lang="en-US" b="1" dirty="0"/>
              <a:t>Top Insights</a:t>
            </a:r>
          </a:p>
          <a:p>
            <a:r>
              <a:rPr lang="en-US" sz="1200" dirty="0"/>
              <a:t>Business Class Flights are the largest emission source (</a:t>
            </a:r>
            <a:r>
              <a:rPr lang="en-US" sz="1200" b="1" dirty="0"/>
              <a:t>73.1M kg CO₂</a:t>
            </a:r>
            <a:r>
              <a:rPr lang="en-US" sz="1200" dirty="0"/>
              <a:t>). </a:t>
            </a:r>
          </a:p>
          <a:p>
            <a:r>
              <a:rPr lang="en-US" sz="1200" dirty="0"/>
              <a:t>Europe has the highest emissions; Asia has the highest CO₂ per trip. </a:t>
            </a:r>
          </a:p>
          <a:p>
            <a:r>
              <a:rPr lang="en-US" sz="1200" dirty="0"/>
              <a:t>Sales and Customer Visits drive the largest carbon footprint.</a:t>
            </a:r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7988489-6263-170D-4F51-2F8ABA6A0EA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1670252"/>
            <a:ext cx="3999900" cy="1710030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Strategic Recommendations</a:t>
            </a:r>
          </a:p>
          <a:p>
            <a:r>
              <a:rPr lang="en-US" sz="1300" dirty="0"/>
              <a:t>Shift eligible short-haul flights to rail. </a:t>
            </a:r>
          </a:p>
          <a:p>
            <a:r>
              <a:rPr lang="en-US" sz="1300" dirty="0"/>
              <a:t>Reduce unnecessary Business &amp; First Class travel. </a:t>
            </a:r>
          </a:p>
          <a:p>
            <a:r>
              <a:rPr lang="en-US" sz="1300" dirty="0"/>
              <a:t>Prioritize Europe and Sales for emission reduction. </a:t>
            </a:r>
          </a:p>
          <a:p>
            <a:r>
              <a:rPr lang="en-US" sz="1300" dirty="0"/>
              <a:t>Use AI to flag high-carbon trips before approval.</a:t>
            </a:r>
          </a:p>
          <a:p>
            <a:pPr marL="139700" indent="0">
              <a:buNone/>
            </a:pPr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7EE4EAC-B7D3-E67E-86DC-3CF76F3DB7E5}"/>
              </a:ext>
            </a:extLst>
          </p:cNvPr>
          <p:cNvSpPr/>
          <p:nvPr/>
        </p:nvSpPr>
        <p:spPr>
          <a:xfrm>
            <a:off x="220808" y="505919"/>
            <a:ext cx="1806314" cy="104181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178M kg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Total CO₂ Emissions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AF3D9FE-3D23-4CDC-AB85-DEFB33215E15}"/>
              </a:ext>
            </a:extLst>
          </p:cNvPr>
          <p:cNvSpPr/>
          <p:nvPr/>
        </p:nvSpPr>
        <p:spPr>
          <a:xfrm>
            <a:off x="2266204" y="513414"/>
            <a:ext cx="1806314" cy="104181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65,289</a:t>
            </a:r>
          </a:p>
          <a:p>
            <a:r>
              <a:rPr lang="en-US" sz="1200" dirty="0">
                <a:solidFill>
                  <a:schemeClr val="tx1"/>
                </a:solidFill>
              </a:rPr>
              <a:t>Business Trips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55F8432-62C3-FBB3-666E-5A1319F868C5}"/>
              </a:ext>
            </a:extLst>
          </p:cNvPr>
          <p:cNvSpPr/>
          <p:nvPr/>
        </p:nvSpPr>
        <p:spPr>
          <a:xfrm>
            <a:off x="4311600" y="505919"/>
            <a:ext cx="1806314" cy="104181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16,326</a:t>
            </a:r>
          </a:p>
          <a:p>
            <a:r>
              <a:rPr lang="en-US" sz="1200" dirty="0">
                <a:solidFill>
                  <a:schemeClr val="tx1"/>
                </a:solidFill>
              </a:rPr>
              <a:t>High-Carbon Trips</a:t>
            </a:r>
          </a:p>
          <a:p>
            <a:r>
              <a:rPr lang="en-US" sz="1200" dirty="0">
                <a:solidFill>
                  <a:schemeClr val="tx1"/>
                </a:solidFill>
              </a:rPr>
              <a:t>25% of total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BEF3D9-8692-F8F7-266B-1CB46B8F7D5F}"/>
              </a:ext>
            </a:extLst>
          </p:cNvPr>
          <p:cNvSpPr/>
          <p:nvPr/>
        </p:nvSpPr>
        <p:spPr>
          <a:xfrm>
            <a:off x="6356996" y="505919"/>
            <a:ext cx="2182971" cy="104181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99.16%</a:t>
            </a:r>
          </a:p>
          <a:p>
            <a:r>
              <a:rPr lang="en-US" sz="1200" dirty="0">
                <a:solidFill>
                  <a:schemeClr val="tx1"/>
                </a:solidFill>
              </a:rPr>
              <a:t>ML Prediction Accuracy</a:t>
            </a:r>
          </a:p>
          <a:p>
            <a:r>
              <a:rPr lang="en-US" sz="1200" dirty="0">
                <a:solidFill>
                  <a:schemeClr val="tx1"/>
                </a:solidFill>
              </a:rPr>
              <a:t>(Random Forest)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6F0333-B14B-1B13-9912-37B775834195}"/>
              </a:ext>
            </a:extLst>
          </p:cNvPr>
          <p:cNvSpPr txBox="1"/>
          <p:nvPr/>
        </p:nvSpPr>
        <p:spPr>
          <a:xfrm>
            <a:off x="163941" y="3268657"/>
            <a:ext cx="76551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Projected 3-Year Impact</a:t>
            </a:r>
          </a:p>
          <a:p>
            <a:r>
              <a:rPr lang="en-US" sz="1200" dirty="0"/>
              <a:t>Replace 30% of eligible Business Class trips with Economy Class.</a:t>
            </a:r>
          </a:p>
          <a:p>
            <a:r>
              <a:rPr lang="en-US" sz="1200" dirty="0"/>
              <a:t>≈ </a:t>
            </a:r>
            <a:r>
              <a:rPr lang="en-US" sz="1200" b="1" dirty="0"/>
              <a:t>6.95M</a:t>
            </a:r>
            <a:r>
              <a:rPr lang="en-US" sz="1200" dirty="0"/>
              <a:t> kg CO₂ avoided</a:t>
            </a:r>
          </a:p>
          <a:p>
            <a:r>
              <a:rPr lang="en-US" sz="1200" dirty="0"/>
              <a:t>≈ </a:t>
            </a:r>
            <a:r>
              <a:rPr lang="en-US" sz="1200" b="1" dirty="0"/>
              <a:t>$9M </a:t>
            </a:r>
            <a:r>
              <a:rPr lang="en-US" sz="1200" dirty="0"/>
              <a:t>travel cost savings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FDAD89-7E79-95B6-F898-44919644D66A}"/>
              </a:ext>
            </a:extLst>
          </p:cNvPr>
          <p:cNvSpPr txBox="1"/>
          <p:nvPr/>
        </p:nvSpPr>
        <p:spPr>
          <a:xfrm>
            <a:off x="163941" y="4234249"/>
            <a:ext cx="85774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This Matters</a:t>
            </a:r>
          </a:p>
          <a:p>
            <a:r>
              <a:rPr lang="en-US" sz="1200" dirty="0"/>
              <a:t>Business travel is </a:t>
            </a:r>
            <a:r>
              <a:rPr lang="en-US" sz="1200" dirty="0" err="1"/>
              <a:t>Celonis</a:t>
            </a:r>
            <a:r>
              <a:rPr lang="en-US" sz="1200" dirty="0"/>
              <a:t>' largest Scope 3 emission source. </a:t>
            </a:r>
            <a:r>
              <a:rPr lang="en-US" sz="1200" b="1" dirty="0"/>
              <a:t>Process Mining + AI </a:t>
            </a:r>
            <a:r>
              <a:rPr lang="en-US" sz="1200" dirty="0"/>
              <a:t>enables smarter, lower-carbon travel decisions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6"/>
          <p:cNvSpPr txBox="1">
            <a:spLocks noGrp="1"/>
          </p:cNvSpPr>
          <p:nvPr>
            <p:ph type="title" idx="4294967295"/>
          </p:nvPr>
        </p:nvSpPr>
        <p:spPr>
          <a:xfrm>
            <a:off x="119921" y="92231"/>
            <a:ext cx="85217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/>
              <a:t>Emissions Profile &amp; Regional Benchmarking</a:t>
            </a:r>
            <a:endParaRPr sz="1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64B43A-543B-E2E4-DE32-8D1F86E29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239"/>
            <a:ext cx="3298239" cy="24440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6C4F3B0-5564-456E-2717-29797C878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8240" y="397239"/>
            <a:ext cx="2967650" cy="24440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C817EA-6647-77CC-C043-F769C35A9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5891" y="397238"/>
            <a:ext cx="2878110" cy="24440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EF8ED63-ABE5-D51C-F42E-18DF418E304F}"/>
              </a:ext>
            </a:extLst>
          </p:cNvPr>
          <p:cNvSpPr txBox="1"/>
          <p:nvPr/>
        </p:nvSpPr>
        <p:spPr>
          <a:xfrm flipH="1">
            <a:off x="119921" y="2841335"/>
            <a:ext cx="828206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Findings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Europe</a:t>
            </a:r>
            <a:r>
              <a:rPr lang="en-US" sz="1200" dirty="0"/>
              <a:t> records the highest total emissions (</a:t>
            </a:r>
            <a:r>
              <a:rPr lang="en-US" sz="1200" b="1" dirty="0"/>
              <a:t>62.5M kg CO₂</a:t>
            </a:r>
            <a:r>
              <a:rPr lang="en-US" sz="1200" dirty="0"/>
              <a:t>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Asia</a:t>
            </a:r>
            <a:r>
              <a:rPr lang="en-US" sz="1200" dirty="0"/>
              <a:t> has the highest emissions per trip (</a:t>
            </a:r>
            <a:r>
              <a:rPr lang="en-US" sz="1200" b="1" dirty="0"/>
              <a:t>3.07 kg/trip</a:t>
            </a:r>
            <a:r>
              <a:rPr lang="en-US" sz="1200" dirty="0"/>
              <a:t>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Europe</a:t>
            </a:r>
            <a:r>
              <a:rPr lang="en-US" sz="1200" dirty="0"/>
              <a:t> and </a:t>
            </a:r>
            <a:r>
              <a:rPr lang="en-US" sz="1200" b="1" dirty="0"/>
              <a:t>North America</a:t>
            </a:r>
            <a:r>
              <a:rPr lang="en-US" sz="1200" dirty="0"/>
              <a:t> account for the highest travel spending.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Emissions and travel costs are concentrated in a few key regions. 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22409F-7186-BEB3-30E7-7B11DE69116D}"/>
              </a:ext>
            </a:extLst>
          </p:cNvPr>
          <p:cNvSpPr txBox="1"/>
          <p:nvPr/>
        </p:nvSpPr>
        <p:spPr>
          <a:xfrm>
            <a:off x="119921" y="3943273"/>
            <a:ext cx="745011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Business Impact</a:t>
            </a:r>
          </a:p>
          <a:p>
            <a:r>
              <a:rPr lang="en-US" sz="1200" dirty="0"/>
              <a:t>Prioritize Europe &amp; North America for carbon reduction while improving travel efficiency in Asia.</a:t>
            </a:r>
          </a:p>
          <a:p>
            <a:br>
              <a:rPr lang="en-US" dirty="0"/>
            </a:br>
            <a:r>
              <a:rPr lang="en-US" b="1" dirty="0"/>
              <a:t>Executive Takeaway</a:t>
            </a:r>
          </a:p>
          <a:p>
            <a:r>
              <a:rPr lang="en-US" sz="1200" dirty="0"/>
              <a:t>Regional benchmarking enables targeted, high-impact sustainability policies.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7"/>
          <p:cNvSpPr txBox="1">
            <a:spLocks noGrp="1"/>
          </p:cNvSpPr>
          <p:nvPr>
            <p:ph type="title"/>
          </p:nvPr>
        </p:nvSpPr>
        <p:spPr>
          <a:xfrm>
            <a:off x="85011" y="6436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Emission Hotspot Analysis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49A69E-8CF6-00FC-DD13-8419E806D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0310"/>
            <a:ext cx="4572000" cy="2221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AA999D-7F17-A662-5625-4715904166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525" y="350310"/>
            <a:ext cx="4572000" cy="2221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F08ACE-3A58-D89B-CA22-2A7D182A7A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571750"/>
            <a:ext cx="2727960" cy="25717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0C068D-3E2C-E986-5392-90B1F009C7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7960" y="2611392"/>
            <a:ext cx="2545259" cy="24677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7D2A24-58E1-FC36-938D-BE4D173251F9}"/>
              </a:ext>
            </a:extLst>
          </p:cNvPr>
          <p:cNvSpPr txBox="1"/>
          <p:nvPr/>
        </p:nvSpPr>
        <p:spPr>
          <a:xfrm>
            <a:off x="5273218" y="2725692"/>
            <a:ext cx="3870781" cy="1300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Key Findings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/>
              <a:t>Business Class Flights</a:t>
            </a:r>
            <a:r>
              <a:rPr lang="en-US" sz="900" dirty="0"/>
              <a:t> generate the highest emissions (</a:t>
            </a:r>
            <a:r>
              <a:rPr lang="en-US" sz="900" b="1" dirty="0"/>
              <a:t>73.1M kg CO₂</a:t>
            </a:r>
            <a:r>
              <a:rPr lang="en-US" sz="900" dirty="0"/>
              <a:t>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/>
              <a:t>Sales</a:t>
            </a:r>
            <a:r>
              <a:rPr lang="en-US" sz="900" dirty="0"/>
              <a:t> is the largest emitting business unit (</a:t>
            </a:r>
            <a:r>
              <a:rPr lang="en-US" sz="900" b="1" dirty="0"/>
              <a:t>60.1M kg CO₂</a:t>
            </a:r>
            <a:r>
              <a:rPr lang="en-US" sz="900" dirty="0"/>
              <a:t>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/>
              <a:t>Customer Visits</a:t>
            </a:r>
            <a:r>
              <a:rPr lang="en-US" sz="900" dirty="0"/>
              <a:t> account for the highest travel emissions (</a:t>
            </a:r>
            <a:r>
              <a:rPr lang="en-US" sz="900" b="1" dirty="0"/>
              <a:t>76.9M kg CO₂</a:t>
            </a:r>
            <a:r>
              <a:rPr lang="en-US" sz="900" dirty="0"/>
              <a:t>).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b="1" dirty="0"/>
              <a:t>United States</a:t>
            </a:r>
            <a:r>
              <a:rPr lang="en-US" sz="900" dirty="0"/>
              <a:t> and </a:t>
            </a:r>
            <a:r>
              <a:rPr lang="en-US" sz="900" b="1" dirty="0"/>
              <a:t>Germany</a:t>
            </a:r>
            <a:r>
              <a:rPr lang="en-US" sz="900" dirty="0"/>
              <a:t> are the highest-emission destinations. 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8EF884-2710-58A3-5F18-9E259684DE89}"/>
              </a:ext>
            </a:extLst>
          </p:cNvPr>
          <p:cNvSpPr txBox="1"/>
          <p:nvPr/>
        </p:nvSpPr>
        <p:spPr>
          <a:xfrm>
            <a:off x="5273218" y="3911748"/>
            <a:ext cx="3752525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/>
              <a:t>Business Impact</a:t>
            </a:r>
            <a:endParaRPr lang="en-US" sz="1050" dirty="0"/>
          </a:p>
          <a:p>
            <a:r>
              <a:rPr lang="en-US" sz="900" dirty="0"/>
              <a:t>Air travel, Sales, and Customer Visits are the highest-impact areas for carbon reduction.</a:t>
            </a:r>
          </a:p>
          <a:p>
            <a:endParaRPr lang="en-US" sz="900" dirty="0"/>
          </a:p>
          <a:p>
            <a:r>
              <a:rPr lang="en-US" sz="1050" b="1" dirty="0"/>
              <a:t>Executive Takeaway</a:t>
            </a:r>
            <a:endParaRPr lang="en-US" sz="1050" dirty="0"/>
          </a:p>
          <a:p>
            <a:r>
              <a:rPr lang="en-US" sz="900" dirty="0"/>
              <a:t>Targeting these hotspots will deliver the largest carbon reduction with focused policy changes</a:t>
            </a:r>
          </a:p>
          <a:p>
            <a:endParaRPr lang="en-US" sz="9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8"/>
          <p:cNvSpPr txBox="1">
            <a:spLocks noGrp="1"/>
          </p:cNvSpPr>
          <p:nvPr>
            <p:ph type="title"/>
          </p:nvPr>
        </p:nvSpPr>
        <p:spPr>
          <a:xfrm>
            <a:off x="77391" y="14479"/>
            <a:ext cx="45784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dirty="0"/>
              <a:t>Process Mining: Inefficiencies &amp; Pain Points</a:t>
            </a:r>
            <a:endParaRPr dirty="0"/>
          </a:p>
        </p:txBody>
      </p:sp>
      <p:sp>
        <p:nvSpPr>
          <p:cNvPr id="176" name="Google Shape;176;p38"/>
          <p:cNvSpPr txBox="1"/>
          <p:nvPr/>
        </p:nvSpPr>
        <p:spPr>
          <a:xfrm>
            <a:off x="315950" y="1069975"/>
            <a:ext cx="8521800" cy="348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1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F60BBC-08BC-5CD2-1A7B-8D8756C26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09057"/>
            <a:ext cx="4062801" cy="16359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4CB93F-D466-5D08-42B3-0CA4E4C93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55357"/>
            <a:ext cx="2346960" cy="44195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0BF926-882F-8E80-1B01-D84E4ABB38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3641" y="355357"/>
            <a:ext cx="2255519" cy="441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2E333F-C48C-687A-F859-21B275F95CB9}"/>
              </a:ext>
            </a:extLst>
          </p:cNvPr>
          <p:cNvSpPr txBox="1"/>
          <p:nvPr/>
        </p:nvSpPr>
        <p:spPr>
          <a:xfrm>
            <a:off x="4800600" y="1744980"/>
            <a:ext cx="4434839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Key Findings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Average travel process takes </a:t>
            </a:r>
            <a:r>
              <a:rPr lang="en-US" sz="1050" b="1" dirty="0"/>
              <a:t>22.9 days</a:t>
            </a:r>
            <a:r>
              <a:rPr lang="en-US" sz="105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Some trips require up to </a:t>
            </a:r>
            <a:r>
              <a:rPr lang="en-US" sz="1050" b="1" dirty="0"/>
              <a:t>40.4 days</a:t>
            </a:r>
            <a:r>
              <a:rPr lang="en-US" sz="105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Most trips follow a single standard process variant.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Expense reimbursement is the longest stage. </a:t>
            </a:r>
          </a:p>
          <a:p>
            <a:endParaRPr lang="en-US" sz="1050" dirty="0"/>
          </a:p>
          <a:p>
            <a:r>
              <a:rPr lang="en-US" sz="1200" b="1" dirty="0"/>
              <a:t>Business Impact</a:t>
            </a:r>
            <a:endParaRPr lang="en-US" sz="1200" dirty="0"/>
          </a:p>
          <a:p>
            <a:r>
              <a:rPr lang="en-US" sz="1050" dirty="0"/>
              <a:t>Long processing times delay reimbursements and reduce operational efficiency.</a:t>
            </a:r>
          </a:p>
          <a:p>
            <a:br>
              <a:rPr lang="en-US" sz="1050" dirty="0"/>
            </a:br>
            <a:r>
              <a:rPr lang="en-US" sz="1200" b="1" dirty="0"/>
              <a:t>Recommendations</a:t>
            </a: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Automate approval and reimbursement workflows.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Monitor delayed cases with automated alerts.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Prioritize carbon-aware approvals for high-emission trips. </a:t>
            </a:r>
          </a:p>
          <a:p>
            <a:br>
              <a:rPr lang="en-US" sz="1050" dirty="0"/>
            </a:br>
            <a:r>
              <a:rPr lang="en-US" sz="1200" b="1" dirty="0"/>
              <a:t>Executive Takeaway</a:t>
            </a:r>
            <a:endParaRPr lang="en-US" sz="1050" dirty="0"/>
          </a:p>
          <a:p>
            <a:r>
              <a:rPr lang="en-US" sz="1050" dirty="0"/>
              <a:t>Process Mining reveals operational bottlenecks that can be automated to improve efficiency and sustainability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9"/>
          <p:cNvSpPr txBox="1">
            <a:spLocks noGrp="1"/>
          </p:cNvSpPr>
          <p:nvPr>
            <p:ph type="title"/>
          </p:nvPr>
        </p:nvSpPr>
        <p:spPr>
          <a:xfrm>
            <a:off x="138351" y="0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dirty="0"/>
              <a:t>Low-Carbon Recommendations &amp; AI Solution</a:t>
            </a:r>
            <a:endParaRPr dirty="0"/>
          </a:p>
        </p:txBody>
      </p:sp>
      <p:sp>
        <p:nvSpPr>
          <p:cNvPr id="182" name="Google Shape;182;p39"/>
          <p:cNvSpPr txBox="1"/>
          <p:nvPr/>
        </p:nvSpPr>
        <p:spPr>
          <a:xfrm>
            <a:off x="161807" y="325181"/>
            <a:ext cx="3290649" cy="5739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b="1" dirty="0"/>
              <a:t>Quantified Recommendations</a:t>
            </a:r>
          </a:p>
          <a:p>
            <a:r>
              <a:rPr lang="en-US" sz="1000" b="1" dirty="0"/>
              <a:t>1. Shift Business Class → Economy</a:t>
            </a:r>
          </a:p>
          <a:p>
            <a:r>
              <a:rPr lang="en-US" sz="1000" dirty="0"/>
              <a:t>30% of eligible trips</a:t>
            </a:r>
          </a:p>
          <a:p>
            <a:r>
              <a:rPr lang="en-US" sz="1000" dirty="0"/>
              <a:t>• ≈ </a:t>
            </a:r>
            <a:r>
              <a:rPr lang="en-US" sz="1000" b="1" dirty="0"/>
              <a:t>6.95M</a:t>
            </a:r>
            <a:r>
              <a:rPr lang="en-US" sz="1000" dirty="0"/>
              <a:t> kg CO₂ avoided (3 years)</a:t>
            </a:r>
          </a:p>
          <a:p>
            <a:r>
              <a:rPr lang="en-US" sz="1000" dirty="0"/>
              <a:t>• ≈ </a:t>
            </a:r>
            <a:r>
              <a:rPr lang="en-US" sz="1000" b="1" dirty="0"/>
              <a:t>$9M</a:t>
            </a:r>
            <a:r>
              <a:rPr lang="en-US" sz="1000" dirty="0"/>
              <a:t> travel cost savings</a:t>
            </a:r>
          </a:p>
          <a:p>
            <a:br>
              <a:rPr lang="en-US" sz="1000" dirty="0"/>
            </a:br>
            <a:r>
              <a:rPr lang="en-US" sz="1000" b="1" dirty="0"/>
              <a:t>2. Increase Rail Adoption</a:t>
            </a:r>
          </a:p>
          <a:p>
            <a:r>
              <a:rPr lang="en-US" sz="1000" dirty="0"/>
              <a:t>• Replace short-haul flights with rail</a:t>
            </a:r>
          </a:p>
          <a:p>
            <a:r>
              <a:rPr lang="en-US" sz="1000" dirty="0"/>
              <a:t>• Train has the lowest average emissions</a:t>
            </a:r>
          </a:p>
          <a:p>
            <a:r>
              <a:rPr lang="en-US" sz="1000" dirty="0"/>
              <a:t>• 0 High-Carbon trips</a:t>
            </a:r>
          </a:p>
          <a:p>
            <a:br>
              <a:rPr lang="en-US" sz="1000" dirty="0"/>
            </a:br>
            <a:r>
              <a:rPr lang="en-US" sz="1000" b="1" dirty="0"/>
              <a:t>3. Reduce Premium Travel</a:t>
            </a:r>
          </a:p>
          <a:p>
            <a:r>
              <a:rPr lang="en-US" sz="1000" dirty="0"/>
              <a:t>• Restrict unnecessary Business &amp; First Class travel</a:t>
            </a:r>
          </a:p>
          <a:p>
            <a:r>
              <a:rPr lang="en-US" sz="1000" dirty="0"/>
              <a:t>• Prioritize virtual meetings where feasible</a:t>
            </a:r>
          </a:p>
          <a:p>
            <a:endParaRPr lang="en-US" sz="1000" b="1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b="1" dirty="0"/>
              <a:t>3-Year Roadmap</a:t>
            </a:r>
            <a:endParaRPr lang="en-US" sz="1100" dirty="0"/>
          </a:p>
          <a:p>
            <a:r>
              <a:rPr lang="en-US" sz="1000" b="1" dirty="0"/>
              <a:t>Phase 1 (0–6 Months)</a:t>
            </a:r>
          </a:p>
          <a:p>
            <a:r>
              <a:rPr lang="en-US" sz="1000" dirty="0"/>
              <a:t>• Deploy AI screening</a:t>
            </a:r>
          </a:p>
          <a:p>
            <a:r>
              <a:rPr lang="en-US" sz="1000" dirty="0"/>
              <a:t>• Promote rail travel</a:t>
            </a:r>
          </a:p>
          <a:p>
            <a:r>
              <a:rPr lang="en-US" sz="1000" dirty="0"/>
              <a:t>• Reduce Business Class usage</a:t>
            </a:r>
          </a:p>
          <a:p>
            <a:endParaRPr lang="en-US" sz="1000" b="1" dirty="0"/>
          </a:p>
          <a:p>
            <a:r>
              <a:rPr lang="en-US" sz="1000" b="1" dirty="0"/>
              <a:t>Phase 2 (6–18 Months)</a:t>
            </a:r>
          </a:p>
          <a:p>
            <a:r>
              <a:rPr lang="en-US" sz="1000" dirty="0"/>
              <a:t>• Carbon-aware approvals</a:t>
            </a:r>
          </a:p>
          <a:p>
            <a:r>
              <a:rPr lang="en-US" sz="1000" dirty="0"/>
              <a:t>• Department carbon budgets</a:t>
            </a:r>
          </a:p>
          <a:p>
            <a:r>
              <a:rPr lang="en-US" sz="1000" dirty="0"/>
              <a:t>• Automated policy checks</a:t>
            </a:r>
          </a:p>
          <a:p>
            <a:br>
              <a:rPr lang="en-US" sz="1000" dirty="0"/>
            </a:br>
            <a:r>
              <a:rPr lang="en-US" sz="1000" b="1" dirty="0"/>
              <a:t>Phase 3 (18–36 Months)</a:t>
            </a:r>
          </a:p>
          <a:p>
            <a:r>
              <a:rPr lang="en-US" sz="1000" dirty="0"/>
              <a:t>• Enterprise carbon optimization</a:t>
            </a:r>
          </a:p>
          <a:p>
            <a:r>
              <a:rPr lang="en-US" sz="1000" dirty="0"/>
              <a:t>• Continuous AI monitoring</a:t>
            </a:r>
          </a:p>
          <a:p>
            <a:r>
              <a:rPr lang="en-US" sz="1000" dirty="0"/>
              <a:t>• Progress toward Net Zero 2030</a:t>
            </a:r>
          </a:p>
          <a:p>
            <a:endParaRPr lang="en-US"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18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E533DD-136E-0A49-0056-8F02B4FD1DCF}"/>
              </a:ext>
            </a:extLst>
          </p:cNvPr>
          <p:cNvSpPr txBox="1"/>
          <p:nvPr/>
        </p:nvSpPr>
        <p:spPr>
          <a:xfrm>
            <a:off x="4111101" y="379248"/>
            <a:ext cx="458724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AI-Powered Travel Approval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b="1" dirty="0"/>
              <a:t>Random Forest Model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b="1" dirty="0"/>
              <a:t>Accuracy:</a:t>
            </a:r>
            <a:r>
              <a:rPr lang="en-US" sz="1050" dirty="0"/>
              <a:t> </a:t>
            </a:r>
            <a:r>
              <a:rPr lang="en-US" sz="1050" b="1" dirty="0"/>
              <a:t>99.16%</a:t>
            </a:r>
            <a:endParaRPr lang="en-US" sz="1050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50" b="1" dirty="0"/>
              <a:t>ROC-AUC:</a:t>
            </a:r>
            <a:r>
              <a:rPr lang="en-US" sz="1050" dirty="0"/>
              <a:t> </a:t>
            </a:r>
            <a:r>
              <a:rPr lang="en-US" sz="1050" b="1" dirty="0"/>
              <a:t>0.9976</a:t>
            </a:r>
            <a:endParaRPr lang="en-US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/>
              <a:t>The model predicts </a:t>
            </a:r>
            <a:r>
              <a:rPr lang="en-US" sz="1050" b="1" dirty="0"/>
              <a:t>High-Carbon Trips before approval</a:t>
            </a:r>
            <a:r>
              <a:rPr lang="en-US" sz="1050" dirty="0"/>
              <a:t>, enabling sustainable travel recommendations</a:t>
            </a:r>
            <a:r>
              <a:rPr lang="en-US" sz="1200" dirty="0"/>
              <a:t>.</a:t>
            </a:r>
          </a:p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2FDEF9-4031-7369-0A2D-BCD67DC59B2C}"/>
              </a:ext>
            </a:extLst>
          </p:cNvPr>
          <p:cNvSpPr/>
          <p:nvPr/>
        </p:nvSpPr>
        <p:spPr>
          <a:xfrm>
            <a:off x="5074920" y="1597198"/>
            <a:ext cx="1386840" cy="3382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Travel Request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DB797BB2-CD19-E93D-E877-34310BBAA44A}"/>
              </a:ext>
            </a:extLst>
          </p:cNvPr>
          <p:cNvSpPr/>
          <p:nvPr/>
        </p:nvSpPr>
        <p:spPr>
          <a:xfrm>
            <a:off x="5608320" y="1935480"/>
            <a:ext cx="160020" cy="251460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332F49-B80D-95F3-9E3D-A076A8C65376}"/>
              </a:ext>
            </a:extLst>
          </p:cNvPr>
          <p:cNvSpPr/>
          <p:nvPr/>
        </p:nvSpPr>
        <p:spPr>
          <a:xfrm>
            <a:off x="5074921" y="2233468"/>
            <a:ext cx="1386839" cy="3382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AI Prediction</a:t>
            </a:r>
          </a:p>
          <a:p>
            <a:pPr algn="ctr"/>
            <a:r>
              <a:rPr lang="en-US" sz="1000" dirty="0"/>
              <a:t>(Random Forest)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4112BE64-70C0-0437-B4D7-93690D344F9A}"/>
              </a:ext>
            </a:extLst>
          </p:cNvPr>
          <p:cNvSpPr/>
          <p:nvPr/>
        </p:nvSpPr>
        <p:spPr>
          <a:xfrm>
            <a:off x="5606415" y="2571750"/>
            <a:ext cx="161925" cy="190411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31FB4D5-0F14-3015-1F13-6DB60921C3F0}"/>
              </a:ext>
            </a:extLst>
          </p:cNvPr>
          <p:cNvCxnSpPr>
            <a:cxnSpLocks/>
          </p:cNvCxnSpPr>
          <p:nvPr/>
        </p:nvCxnSpPr>
        <p:spPr>
          <a:xfrm>
            <a:off x="4953000" y="2785021"/>
            <a:ext cx="169926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Arrow: Down 22">
            <a:extLst>
              <a:ext uri="{FF2B5EF4-FFF2-40B4-BE49-F238E27FC236}">
                <a16:creationId xmlns:a16="http://schemas.microsoft.com/office/drawing/2014/main" id="{A5B0FF08-6E34-C30E-F962-49C10B7EB3D5}"/>
              </a:ext>
            </a:extLst>
          </p:cNvPr>
          <p:cNvSpPr/>
          <p:nvPr/>
        </p:nvSpPr>
        <p:spPr>
          <a:xfrm>
            <a:off x="4934725" y="2772158"/>
            <a:ext cx="125432" cy="319234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136EBDEF-BB3B-B0CF-2B57-6552E636032E}"/>
              </a:ext>
            </a:extLst>
          </p:cNvPr>
          <p:cNvSpPr/>
          <p:nvPr/>
        </p:nvSpPr>
        <p:spPr>
          <a:xfrm>
            <a:off x="6541651" y="2802576"/>
            <a:ext cx="125432" cy="29196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Process 24">
            <a:extLst>
              <a:ext uri="{FF2B5EF4-FFF2-40B4-BE49-F238E27FC236}">
                <a16:creationId xmlns:a16="http://schemas.microsoft.com/office/drawing/2014/main" id="{5EC8BBD6-3D01-71C0-49F5-4239544BE46F}"/>
              </a:ext>
            </a:extLst>
          </p:cNvPr>
          <p:cNvSpPr/>
          <p:nvPr/>
        </p:nvSpPr>
        <p:spPr>
          <a:xfrm>
            <a:off x="4465796" y="3100443"/>
            <a:ext cx="1142048" cy="291961"/>
          </a:xfrm>
          <a:prstGeom prst="flowChart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Low Carbon</a:t>
            </a:r>
          </a:p>
        </p:txBody>
      </p:sp>
      <p:sp>
        <p:nvSpPr>
          <p:cNvPr id="26" name="Flowchart: Process 25">
            <a:extLst>
              <a:ext uri="{FF2B5EF4-FFF2-40B4-BE49-F238E27FC236}">
                <a16:creationId xmlns:a16="http://schemas.microsoft.com/office/drawing/2014/main" id="{73DCAFAD-3349-6BE7-CD32-09A415452199}"/>
              </a:ext>
            </a:extLst>
          </p:cNvPr>
          <p:cNvSpPr/>
          <p:nvPr/>
        </p:nvSpPr>
        <p:spPr>
          <a:xfrm>
            <a:off x="6206490" y="3112093"/>
            <a:ext cx="990600" cy="280310"/>
          </a:xfrm>
          <a:prstGeom prst="flowChart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High Carbon</a:t>
            </a: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E95AC91E-4661-6DA2-8858-5238706B6D06}"/>
              </a:ext>
            </a:extLst>
          </p:cNvPr>
          <p:cNvSpPr/>
          <p:nvPr/>
        </p:nvSpPr>
        <p:spPr>
          <a:xfrm>
            <a:off x="4939963" y="3401455"/>
            <a:ext cx="137160" cy="25447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2D845FFD-01B0-B7CC-6623-C0005F90CD0B}"/>
              </a:ext>
            </a:extLst>
          </p:cNvPr>
          <p:cNvSpPr/>
          <p:nvPr/>
        </p:nvSpPr>
        <p:spPr>
          <a:xfrm>
            <a:off x="6552604" y="3414533"/>
            <a:ext cx="137160" cy="25447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lowchart: Process 28">
            <a:extLst>
              <a:ext uri="{FF2B5EF4-FFF2-40B4-BE49-F238E27FC236}">
                <a16:creationId xmlns:a16="http://schemas.microsoft.com/office/drawing/2014/main" id="{68F3E116-97E6-CA33-A345-57CC0A6298BA}"/>
              </a:ext>
            </a:extLst>
          </p:cNvPr>
          <p:cNvSpPr/>
          <p:nvPr/>
        </p:nvSpPr>
        <p:spPr>
          <a:xfrm>
            <a:off x="4536103" y="3684256"/>
            <a:ext cx="944880" cy="254472"/>
          </a:xfrm>
          <a:prstGeom prst="flowChart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Approve</a:t>
            </a:r>
          </a:p>
        </p:txBody>
      </p:sp>
      <p:sp>
        <p:nvSpPr>
          <p:cNvPr id="30" name="Flowchart: Process 29">
            <a:extLst>
              <a:ext uri="{FF2B5EF4-FFF2-40B4-BE49-F238E27FC236}">
                <a16:creationId xmlns:a16="http://schemas.microsoft.com/office/drawing/2014/main" id="{ED759CA5-AB5B-EC7F-25CD-6E76AC3F241C}"/>
              </a:ext>
            </a:extLst>
          </p:cNvPr>
          <p:cNvSpPr/>
          <p:nvPr/>
        </p:nvSpPr>
        <p:spPr>
          <a:xfrm>
            <a:off x="5648681" y="3683540"/>
            <a:ext cx="2446020" cy="341185"/>
          </a:xfrm>
          <a:prstGeom prst="flowChartProces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/>
              <a:t>Suggest Rail / Economy / Virtual Meeting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7B5032-DEB6-B993-3CED-3912B5A0A5E3}"/>
              </a:ext>
            </a:extLst>
          </p:cNvPr>
          <p:cNvSpPr txBox="1"/>
          <p:nvPr/>
        </p:nvSpPr>
        <p:spPr>
          <a:xfrm>
            <a:off x="3025140" y="4259580"/>
            <a:ext cx="595705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Executive Takeaway</a:t>
            </a:r>
            <a:endParaRPr lang="en-US" sz="1100" dirty="0"/>
          </a:p>
          <a:p>
            <a:r>
              <a:rPr lang="en-US" sz="1050" dirty="0"/>
              <a:t>Combining Process Mining with AI enables proactive, data-driven travel decisions that reduce emissions while maintaining business efficiency.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0"/>
          <p:cNvSpPr txBox="1">
            <a:spLocks noGrp="1"/>
          </p:cNvSpPr>
          <p:nvPr>
            <p:ph type="title"/>
          </p:nvPr>
        </p:nvSpPr>
        <p:spPr>
          <a:xfrm>
            <a:off x="267420" y="254144"/>
            <a:ext cx="85206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/>
              <a:t>Strategic Integration Roadmap</a:t>
            </a:r>
            <a:endParaRPr sz="1600" b="1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B5DB4E1-00D7-7B72-A049-1F28194B2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7420" y="688121"/>
            <a:ext cx="3635460" cy="3579720"/>
          </a:xfrm>
        </p:spPr>
        <p:txBody>
          <a:bodyPr>
            <a:normAutofit/>
          </a:bodyPr>
          <a:lstStyle/>
          <a:p>
            <a:pPr marL="139700" indent="0">
              <a:buNone/>
            </a:pPr>
            <a:r>
              <a:rPr lang="en-US" b="1" dirty="0"/>
              <a:t>Implementation Journey</a:t>
            </a:r>
            <a:endParaRPr lang="en-US" dirty="0"/>
          </a:p>
          <a:p>
            <a:pPr marL="139700" indent="0">
              <a:buNone/>
            </a:pPr>
            <a:r>
              <a:rPr lang="en-US" sz="1200" b="1" dirty="0"/>
              <a:t>Phase 1</a:t>
            </a:r>
          </a:p>
          <a:p>
            <a:r>
              <a:rPr lang="en-US" sz="1200" dirty="0"/>
              <a:t>Deploy AI-based trip screening </a:t>
            </a:r>
          </a:p>
          <a:p>
            <a:r>
              <a:rPr lang="en-US" sz="1200" dirty="0"/>
              <a:t>Introduce carbon-aware approvals </a:t>
            </a:r>
          </a:p>
          <a:p>
            <a:r>
              <a:rPr lang="en-US" sz="1200" dirty="0"/>
              <a:t>Promote rail for short-haul travel </a:t>
            </a:r>
            <a:br>
              <a:rPr lang="en-US" sz="1200" dirty="0"/>
            </a:br>
            <a:endParaRPr lang="en-US" sz="1200" dirty="0"/>
          </a:p>
          <a:p>
            <a:pPr marL="139700" indent="0">
              <a:buNone/>
            </a:pPr>
            <a:r>
              <a:rPr lang="en-US" sz="1200" b="1" dirty="0"/>
              <a:t>Phase 2</a:t>
            </a:r>
          </a:p>
          <a:p>
            <a:r>
              <a:rPr lang="en-US" sz="1200" dirty="0"/>
              <a:t>Automate sustainability policy checks </a:t>
            </a:r>
          </a:p>
          <a:p>
            <a:r>
              <a:rPr lang="en-US" sz="1200" dirty="0"/>
              <a:t>Department-level carbon dashboards </a:t>
            </a:r>
          </a:p>
          <a:p>
            <a:r>
              <a:rPr lang="en-US" sz="1200" dirty="0"/>
              <a:t>Monitor emission KPIs monthly </a:t>
            </a:r>
            <a:br>
              <a:rPr lang="en-US" sz="1200" dirty="0"/>
            </a:br>
            <a:endParaRPr lang="en-US" sz="1200" dirty="0"/>
          </a:p>
          <a:p>
            <a:pPr marL="139700" indent="0">
              <a:buNone/>
            </a:pPr>
            <a:r>
              <a:rPr lang="en-US" sz="1200" b="1" dirty="0"/>
              <a:t>Phase 3</a:t>
            </a:r>
          </a:p>
          <a:p>
            <a:r>
              <a:rPr lang="en-US" sz="1200" dirty="0"/>
              <a:t>Enterprise-wide carbon optimization </a:t>
            </a:r>
          </a:p>
          <a:p>
            <a:r>
              <a:rPr lang="en-US" sz="1200" dirty="0"/>
              <a:t>Continuous AI model improvement </a:t>
            </a:r>
          </a:p>
          <a:p>
            <a:r>
              <a:rPr lang="en-US" sz="1200" dirty="0"/>
              <a:t>Achieve Net Zero 2030 targets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2D0CE-8E9B-2EB9-8DB5-B2DFA5D5C75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0" y="688121"/>
            <a:ext cx="3999900" cy="3504485"/>
          </a:xfrm>
        </p:spPr>
        <p:txBody>
          <a:bodyPr>
            <a:normAutofit fontScale="92500" lnSpcReduction="10000"/>
          </a:bodyPr>
          <a:lstStyle/>
          <a:p>
            <a:pPr marL="139700" indent="0">
              <a:buNone/>
            </a:pPr>
            <a:r>
              <a:rPr lang="en-US" sz="1500" b="1" dirty="0"/>
              <a:t>Expected Business Value</a:t>
            </a:r>
            <a:endParaRPr lang="en-US" sz="1500" dirty="0"/>
          </a:p>
          <a:p>
            <a:pPr marL="139700" indent="0">
              <a:buNone/>
            </a:pPr>
            <a:r>
              <a:rPr lang="en-US" sz="1300" b="1" dirty="0"/>
              <a:t>Environmental</a:t>
            </a:r>
          </a:p>
          <a:p>
            <a:r>
              <a:rPr lang="en-US" sz="1300" dirty="0"/>
              <a:t> Lower travel emissions</a:t>
            </a:r>
          </a:p>
          <a:p>
            <a:r>
              <a:rPr lang="en-US" sz="1300" dirty="0"/>
              <a:t> Fewer high-carbon trips</a:t>
            </a:r>
          </a:p>
          <a:p>
            <a:r>
              <a:rPr lang="en-US" sz="1300" dirty="0"/>
              <a:t>Faster progress toward Net Zero</a:t>
            </a:r>
            <a:br>
              <a:rPr lang="en-US" sz="1300" dirty="0"/>
            </a:br>
            <a:endParaRPr lang="en-US" sz="1300" dirty="0"/>
          </a:p>
          <a:p>
            <a:pPr marL="139700" indent="0">
              <a:buNone/>
            </a:pPr>
            <a:r>
              <a:rPr lang="en-US" sz="1300" b="1" dirty="0"/>
              <a:t>Financial</a:t>
            </a:r>
          </a:p>
          <a:p>
            <a:r>
              <a:rPr lang="en-US" sz="1300" dirty="0"/>
              <a:t>Lower travel costs</a:t>
            </a:r>
          </a:p>
          <a:p>
            <a:r>
              <a:rPr lang="en-US" sz="1300" dirty="0"/>
              <a:t>Better budget control</a:t>
            </a:r>
          </a:p>
          <a:p>
            <a:r>
              <a:rPr lang="en-US" sz="1300" dirty="0"/>
              <a:t>Reduced premium travel</a:t>
            </a:r>
          </a:p>
          <a:p>
            <a:br>
              <a:rPr lang="en-US" sz="1300" dirty="0"/>
            </a:br>
            <a:endParaRPr lang="en-US" sz="1300" dirty="0"/>
          </a:p>
          <a:p>
            <a:pPr marL="139700" indent="0">
              <a:buNone/>
            </a:pPr>
            <a:r>
              <a:rPr lang="en-US" sz="1300" b="1" dirty="0"/>
              <a:t>Operational</a:t>
            </a:r>
          </a:p>
          <a:p>
            <a:r>
              <a:rPr lang="en-US" sz="1300" dirty="0"/>
              <a:t>Faster approvals</a:t>
            </a:r>
          </a:p>
          <a:p>
            <a:r>
              <a:rPr lang="en-US" sz="1300" dirty="0"/>
              <a:t>Automated policy compliance</a:t>
            </a:r>
          </a:p>
          <a:p>
            <a:r>
              <a:rPr lang="en-US" sz="1300" dirty="0"/>
              <a:t>Better visibility into travel decisions</a:t>
            </a:r>
          </a:p>
          <a:p>
            <a:endParaRPr lang="en-US" dirty="0"/>
          </a:p>
        </p:txBody>
      </p:sp>
      <p:sp>
        <p:nvSpPr>
          <p:cNvPr id="188" name="Google Shape;188;p40"/>
          <p:cNvSpPr txBox="1"/>
          <p:nvPr/>
        </p:nvSpPr>
        <p:spPr>
          <a:xfrm>
            <a:off x="1672310" y="512133"/>
            <a:ext cx="8521800" cy="50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i="1" dirty="0">
                <a:solidFill>
                  <a:schemeClr val="dk1"/>
                </a:solidFill>
              </a:rPr>
              <a:t>.</a:t>
            </a:r>
            <a:endParaRPr sz="18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3567A-E49B-9083-7AED-A00BD2B79612}"/>
              </a:ext>
            </a:extLst>
          </p:cNvPr>
          <p:cNvSpPr txBox="1"/>
          <p:nvPr/>
        </p:nvSpPr>
        <p:spPr>
          <a:xfrm>
            <a:off x="258480" y="4101436"/>
            <a:ext cx="83134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Executive Takeaway</a:t>
            </a:r>
            <a:endParaRPr lang="en-US" dirty="0"/>
          </a:p>
          <a:p>
            <a:r>
              <a:rPr lang="en-US" sz="1200" b="1" dirty="0"/>
              <a:t>Integrating Process Mining, dashboards, and AI creates a scalable framework for sustainable business travel.</a:t>
            </a:r>
            <a:endParaRPr lang="en-US" sz="12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1"/>
          <p:cNvSpPr txBox="1">
            <a:spLocks noGrp="1"/>
          </p:cNvSpPr>
          <p:nvPr>
            <p:ph type="title"/>
          </p:nvPr>
        </p:nvSpPr>
        <p:spPr>
          <a:xfrm>
            <a:off x="184071" y="163428"/>
            <a:ext cx="7945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b="1" dirty="0"/>
              <a:t>Dashboard View – Emissions Overview</a:t>
            </a:r>
            <a:endParaRPr b="1" dirty="0"/>
          </a:p>
        </p:txBody>
      </p:sp>
      <p:sp>
        <p:nvSpPr>
          <p:cNvPr id="194" name="Google Shape;194;p41"/>
          <p:cNvSpPr txBox="1"/>
          <p:nvPr/>
        </p:nvSpPr>
        <p:spPr>
          <a:xfrm>
            <a:off x="315950" y="1069975"/>
            <a:ext cx="8521800" cy="502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1D97D6-369F-F8E5-E93A-6A7D0A2B1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2" y="409729"/>
            <a:ext cx="8989648" cy="28744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A69880-8962-D3A0-8EBA-BA0F189466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" y="3367860"/>
            <a:ext cx="9075420" cy="18442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5BF21-5D2E-B294-BD7A-B75639285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View – Benchmarking &amp; Emissions Drilldown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E076DC-D905-B0FC-BD51-E62601951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601980"/>
            <a:ext cx="4457699" cy="43357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07A248-F738-CAE8-A762-2358E53863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601980"/>
            <a:ext cx="4602480" cy="433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047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55337-217D-2EE6-712E-D9AA900C9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0" y="110088"/>
            <a:ext cx="9028509" cy="246300"/>
          </a:xfrm>
        </p:spPr>
        <p:txBody>
          <a:bodyPr/>
          <a:lstStyle/>
          <a:p>
            <a:r>
              <a:rPr lang="en-US" dirty="0"/>
              <a:t>Dashboard View – Process Mining (Process Explorer + Variant Explorer + Throughput)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2AB07A-CF5A-7F99-F49A-A6B86E835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1" y="356389"/>
            <a:ext cx="9144000" cy="27525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C48054-82B5-C7E1-3BCD-9967B3B14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61" y="3108961"/>
            <a:ext cx="9124838" cy="197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507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elonis Template 2024">
  <a:themeElements>
    <a:clrScheme name="Celonis">
      <a:dk1>
        <a:srgbClr val="000000"/>
      </a:dk1>
      <a:lt1>
        <a:srgbClr val="FFFFFF"/>
      </a:lt1>
      <a:dk2>
        <a:srgbClr val="000143"/>
      </a:dk2>
      <a:lt2>
        <a:srgbClr val="0028FF"/>
      </a:lt2>
      <a:accent1>
        <a:srgbClr val="5CFE50"/>
      </a:accent1>
      <a:accent2>
        <a:srgbClr val="00DCFF"/>
      </a:accent2>
      <a:accent3>
        <a:srgbClr val="B6FE76"/>
      </a:accent3>
      <a:accent4>
        <a:srgbClr val="EDFF61"/>
      </a:accent4>
      <a:accent5>
        <a:srgbClr val="7E8383"/>
      </a:accent5>
      <a:accent6>
        <a:srgbClr val="464650"/>
      </a:accent6>
      <a:hlink>
        <a:srgbClr val="0028FF"/>
      </a:hlink>
      <a:folHlink>
        <a:srgbClr val="00D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elonis Template 2024">
  <a:themeElements>
    <a:clrScheme name="Celonis">
      <a:dk1>
        <a:srgbClr val="000000"/>
      </a:dk1>
      <a:lt1>
        <a:srgbClr val="FFFFFF"/>
      </a:lt1>
      <a:dk2>
        <a:srgbClr val="000143"/>
      </a:dk2>
      <a:lt2>
        <a:srgbClr val="0028FF"/>
      </a:lt2>
      <a:accent1>
        <a:srgbClr val="5CFE50"/>
      </a:accent1>
      <a:accent2>
        <a:srgbClr val="00DCFF"/>
      </a:accent2>
      <a:accent3>
        <a:srgbClr val="B6FE76"/>
      </a:accent3>
      <a:accent4>
        <a:srgbClr val="EDFF61"/>
      </a:accent4>
      <a:accent5>
        <a:srgbClr val="7E8383"/>
      </a:accent5>
      <a:accent6>
        <a:srgbClr val="464650"/>
      </a:accent6>
      <a:hlink>
        <a:srgbClr val="0028FF"/>
      </a:hlink>
      <a:folHlink>
        <a:srgbClr val="00DC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1178</TotalTime>
  <Words>804</Words>
  <Application>Microsoft Office PowerPoint</Application>
  <PresentationFormat>On-screen Show (16:9)</PresentationFormat>
  <Paragraphs>152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Simple Light</vt:lpstr>
      <vt:lpstr>Celonis Template 2024</vt:lpstr>
      <vt:lpstr>Celonis Template 2024</vt:lpstr>
      <vt:lpstr>Decarbonizing Business Travel</vt:lpstr>
      <vt:lpstr>Executive Summary – Results at a Glance</vt:lpstr>
      <vt:lpstr>Emissions Profile &amp; Regional Benchmarking</vt:lpstr>
      <vt:lpstr>Emission Hotspot Analysis</vt:lpstr>
      <vt:lpstr>Process Mining: Inefficiencies &amp; Pain Points</vt:lpstr>
      <vt:lpstr>Low-Carbon Recommendations &amp; AI Solution</vt:lpstr>
      <vt:lpstr>Strategic Integration Roadmap</vt:lpstr>
      <vt:lpstr>Dashboard View – Emissions Overview</vt:lpstr>
      <vt:lpstr>Dashboard View – Benchmarking &amp; Emissions Drilldown</vt:lpstr>
      <vt:lpstr>Dashboard View – Process Mining (Process Explorer + Variant Explorer + Throughput)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ekta yadav</cp:lastModifiedBy>
  <cp:revision>2</cp:revision>
  <dcterms:modified xsi:type="dcterms:W3CDTF">2026-07-13T21:00:16Z</dcterms:modified>
</cp:coreProperties>
</file>